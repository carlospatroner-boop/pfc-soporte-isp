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015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Arial"/>
              </a:rPr>
              <a:t>Sistema de Soporte Técnico ISP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60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0" i="0">
                <a:solidFill>
                  <a:srgbClr val="CFDAE8"/>
                </a:solidFill>
                <a:latin typeface="Arial"/>
              </a:rPr>
              <a:t>Entrega 3 · Aplicaciones Distribuidas (ISR-701) · Equipo ACC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6015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Carlos Carpio — Datos/Reportes · expone la demo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Cristhian Pacheco — Ticket-service / Spark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Robinson Cando — Pruebas / Métricas / Protocolo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Jeremy Álvarez — Arquitectura / Notificaciones /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623560"/>
            <a:ext cx="10360152" cy="18288"/>
          </a:xfrm>
          <a:prstGeom prst="rect">
            <a:avLst/>
          </a:prstGeom>
          <a:solidFill>
            <a:srgbClr val="4A6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80644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CFDAE8"/>
                </a:solidFill>
                <a:latin typeface="Arial"/>
              </a:rPr>
              <a:t>Código: PFC-E3 · ISR-701    ·    Repositorio: https://github.com/carlospatroner-boop/PFC-SOPORTE-ISP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72200"/>
            <a:ext cx="103601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9AADC7"/>
                </a:solidFill>
                <a:latin typeface="Arial"/>
              </a:rPr>
              <a:t>Julio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9999" y="359999"/>
            <a:ext cx="3108960" cy="34747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SECCIÓN 1 ·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9856" y="359999"/>
            <a:ext cx="3291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Arial"/>
              </a:rPr>
              <a:t>Expone: Carlos Carpio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9999" y="762335"/>
            <a:ext cx="1147169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1E3A5F"/>
                </a:solidFill>
                <a:latin typeface="Arial"/>
              </a:rPr>
              <a:t>Objetivo de hoy y hoja de ruta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8686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Arial"/>
              </a:rPr>
              <a:t>Equipo ACC · PFC-E3 · ISR-701 · Sistema de Soporte Técnico ISP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528816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Arial"/>
              </a:rPr>
              <a:t>1/17</a:t>
            </a:r>
          </a:p>
        </p:txBody>
      </p:sp>
      <p:sp>
        <p:nvSpPr>
          <p:cNvPr id="9" name="Rectangle 8"/>
          <p:cNvSpPr/>
          <p:nvPr/>
        </p:nvSpPr>
        <p:spPr>
          <a:xfrm>
            <a:off x="359999" y="1493855"/>
            <a:ext cx="11471697" cy="6858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Objetivo: demostrar la capa de datos distribuida y el pipeline paralelo de la E3.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9999" y="2316815"/>
            <a:ext cx="11471697" cy="4083985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28600" bIns="228600"/>
          <a:lstStyle/>
          <a:p>
            <a:pPr algn="ctr"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E3A5F"/>
                </a:solidFill>
                <a:latin typeface="Arial"/>
              </a:rPr>
              <a:t>●  Arquitectura vigente y qué cambió en E3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Decisiones técnicas: fragmentación, CAP/PACELC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Evidencia real: pruebas, métricas y pipeline Spark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Demo en vivo: crear ticket → notificación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Riesgos, plan hacia E4 y 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9999" y="359999"/>
            <a:ext cx="3108960" cy="34747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SECCIÓN 1 ·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9856" y="359999"/>
            <a:ext cx="3291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Arial"/>
              </a:rPr>
              <a:t>Expone: Cristhian Pacheco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9999" y="762335"/>
            <a:ext cx="1147169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1E3A5F"/>
                </a:solidFill>
                <a:latin typeface="Arial"/>
              </a:rPr>
              <a:t>El problema: soporte técnico de un ISP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8686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Arial"/>
              </a:rPr>
              <a:t>Equipo ACC · PFC-E3 · ISR-701 · Sistema de Soporte Técnico ISP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528816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Arial"/>
              </a:rPr>
              <a:t>2/17</a:t>
            </a:r>
          </a:p>
        </p:txBody>
      </p:sp>
      <p:sp>
        <p:nvSpPr>
          <p:cNvPr id="9" name="Rectangle 8"/>
          <p:cNvSpPr/>
          <p:nvPr/>
        </p:nvSpPr>
        <p:spPr>
          <a:xfrm>
            <a:off x="359999" y="1493855"/>
            <a:ext cx="11471697" cy="4906945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28600" bIns="228600"/>
          <a:lstStyle/>
          <a:p>
            <a:pPr algn="ctr"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E3A5F"/>
                </a:solidFill>
                <a:latin typeface="Arial"/>
              </a:rPr>
              <a:t>●  Dominio: gestión de tickets de soporte técnico de Internet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Usuarios: cliente, técnico de zona, administrador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RNF crítico: SLA de resolución por prioridad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RNF crítico: consistencia bajo escrituras concurrentes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RNF crítico: escalar a más de 500k incidencias históricas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9999" y="359999"/>
            <a:ext cx="3108960" cy="34747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SECCIÓN 2 ·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9856" y="359999"/>
            <a:ext cx="3291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Arial"/>
              </a:rPr>
              <a:t>Expone: Jeremy Álvarez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9999" y="762335"/>
            <a:ext cx="1147169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1E3A5F"/>
                </a:solidFill>
                <a:latin typeface="Arial"/>
              </a:rPr>
              <a:t>Arquitectura de contenedores (C4 Nivel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8686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Arial"/>
              </a:rPr>
              <a:t>Equipo ACC · PFC-E3 · ISR-701 · Sistema de Soporte Técnico ISP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528816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Arial"/>
              </a:rPr>
              <a:t>3/17</a:t>
            </a:r>
          </a:p>
        </p:txBody>
      </p:sp>
      <p:pic>
        <p:nvPicPr>
          <p:cNvPr id="9" name="Picture 8" descr="c4-nivel2-diaposit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99" y="1493855"/>
            <a:ext cx="11471697" cy="4473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9999" y="6022369"/>
            <a:ext cx="1147169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595959"/>
                </a:solidFill>
                <a:latin typeface="Arial"/>
              </a:rPr>
              <a:t>Diagrama propio, notación C4 · ámbar = fragmentado en E3 · teal = nuevo en E3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9999" y="359999"/>
            <a:ext cx="3108960" cy="34747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SECCIÓN 2 ·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9856" y="359999"/>
            <a:ext cx="3291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Arial"/>
              </a:rPr>
              <a:t>Expone: Jeremy Álvarez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9999" y="762335"/>
            <a:ext cx="1147169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1E3A5F"/>
                </a:solidFill>
                <a:latin typeface="Arial"/>
              </a:rPr>
              <a:t>Qué cambió respecto a E2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8686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Arial"/>
              </a:rPr>
              <a:t>Equipo ACC · PFC-E3 · ISR-701 · Sistema de Soporte Técnico ISP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528816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Arial"/>
              </a:rPr>
              <a:t>4/17</a:t>
            </a:r>
          </a:p>
        </p:txBody>
      </p:sp>
      <p:sp>
        <p:nvSpPr>
          <p:cNvPr id="9" name="Rectangle 8"/>
          <p:cNvSpPr/>
          <p:nvPr/>
        </p:nvSpPr>
        <p:spPr>
          <a:xfrm>
            <a:off x="359999" y="1493855"/>
            <a:ext cx="11471697" cy="4906945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28600" bIns="228600"/>
          <a:lstStyle/>
          <a:p>
            <a:pPr algn="ctr"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E3A5F"/>
                </a:solidFill>
                <a:latin typeface="Arial"/>
              </a:rPr>
              <a:t>●  tickets: fragmentado por fecha_apertura (antes: por zona)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Clúster CockroachDB real de 3 nodos (antes: mono-nodo)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+3 métricas Prometheus incrementales en ticket-service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+Testcontainers: pruebas contra CockroachDB real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+Pipeline Spark: nuevo componente analítico paralelo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9999" y="359999"/>
            <a:ext cx="3108960" cy="347472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SECCIÓN 3 · AVANCE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9856" y="359999"/>
            <a:ext cx="3291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Arial"/>
              </a:rPr>
              <a:t>Expone: Robinson Cando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9999" y="762335"/>
            <a:ext cx="1147169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1E3A5F"/>
                </a:solidFill>
                <a:latin typeface="Arial"/>
              </a:rPr>
              <a:t>Lo planificado vs. lo construido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8686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Arial"/>
              </a:rPr>
              <a:t>Equipo ACC · PFC-E3 · ISR-701 · Sistema de Soporte Técnico ISP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528816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Arial"/>
              </a:rPr>
              <a:t>5/17</a:t>
            </a:r>
          </a:p>
        </p:txBody>
      </p:sp>
      <p:sp>
        <p:nvSpPr>
          <p:cNvPr id="9" name="Rectangle 8"/>
          <p:cNvSpPr/>
          <p:nvPr/>
        </p:nvSpPr>
        <p:spPr>
          <a:xfrm>
            <a:off x="359999" y="1493855"/>
            <a:ext cx="11471697" cy="4906945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/>
          <a:lstStyle/>
          <a:p>
            <a:pPr algn="ctr">
              <a:spcAft>
                <a:spcPts val="1600"/>
              </a:spcAft>
            </a:pPr>
            <a:r>
              <a:rPr sz="2200" b="1" i="0">
                <a:solidFill>
                  <a:srgbClr val="0F6B5C"/>
                </a:solidFill>
                <a:latin typeface="Arial"/>
              </a:rPr>
              <a:t>✓  </a:t>
            </a:r>
            <a:r>
              <a:rPr sz="2200" b="0" i="0">
                <a:solidFill>
                  <a:srgbClr val="1A1A1A"/>
                </a:solidFill>
                <a:latin typeface="Arial"/>
              </a:rPr>
              <a:t>Fragmentación por fecha + ADR-0003 — hecho, verificado</a:t>
            </a:r>
          </a:p>
          <a:p>
            <a:pPr>
              <a:spcAft>
                <a:spcPts val="1600"/>
              </a:spcAft>
            </a:pPr>
            <a:r>
              <a:rPr sz="2200" b="1" i="0">
                <a:solidFill>
                  <a:srgbClr val="0F6B5C"/>
                </a:solidFill>
                <a:latin typeface="Arial"/>
              </a:rPr>
              <a:t>✓  </a:t>
            </a:r>
            <a:r>
              <a:rPr sz="2200" b="0" i="0">
                <a:solidFill>
                  <a:srgbClr val="1A1A1A"/>
                </a:solidFill>
                <a:latin typeface="Arial"/>
              </a:rPr>
              <a:t>Testcontainers + 3 métricas Prometheus — hecho, 0 advertencias</a:t>
            </a:r>
          </a:p>
          <a:p>
            <a:pPr>
              <a:spcAft>
                <a:spcPts val="1600"/>
              </a:spcAft>
            </a:pPr>
            <a:r>
              <a:rPr sz="2200" b="1" i="0">
                <a:solidFill>
                  <a:srgbClr val="0F6B5C"/>
                </a:solidFill>
                <a:latin typeface="Arial"/>
              </a:rPr>
              <a:t>✓  </a:t>
            </a:r>
            <a:r>
              <a:rPr sz="2200" b="0" i="0">
                <a:solidFill>
                  <a:srgbClr val="1A1A1A"/>
                </a:solidFill>
                <a:latin typeface="Arial"/>
              </a:rPr>
              <a:t>Pipeline Spark, 5 transformaciones, 600k filas — hecho</a:t>
            </a:r>
          </a:p>
          <a:p>
            <a:pPr>
              <a:spcAft>
                <a:spcPts val="1600"/>
              </a:spcAft>
            </a:pPr>
            <a:r>
              <a:rPr sz="2200" b="1" i="0">
                <a:solidFill>
                  <a:srgbClr val="8A5A00"/>
                </a:solidFill>
                <a:latin typeface="Arial"/>
              </a:rPr>
              <a:t>⧗  </a:t>
            </a:r>
            <a:r>
              <a:rPr sz="2200" b="0" i="0">
                <a:solidFill>
                  <a:srgbClr val="1A1A1A"/>
                </a:solidFill>
                <a:latin typeface="Arial"/>
              </a:rPr>
              <a:t>Video de tolerancia a fallos (1 y 2 nodos) — pendiente</a:t>
            </a:r>
          </a:p>
          <a:p>
            <a:pPr>
              <a:spcAft>
                <a:spcPts val="1600"/>
              </a:spcAft>
            </a:pPr>
            <a:r>
              <a:rPr sz="2200" b="1" i="0">
                <a:solidFill>
                  <a:srgbClr val="8A5A00"/>
                </a:solidFill>
                <a:latin typeface="Arial"/>
              </a:rPr>
              <a:t>⧗  </a:t>
            </a:r>
            <a:r>
              <a:rPr sz="2200" b="0" i="0">
                <a:solidFill>
                  <a:srgbClr val="1A1A1A"/>
                </a:solidFill>
                <a:latin typeface="Arial"/>
              </a:rPr>
              <a:t>Protocolo estadístico, 50 corridas, IC 95% — pendiente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9999" y="359999"/>
            <a:ext cx="3108960" cy="347472"/>
          </a:xfrm>
          <a:prstGeom prst="rect">
            <a:avLst/>
          </a:prstGeom>
          <a:solidFill>
            <a:srgbClr val="0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SECCIÓN 4 · DECISIONES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9856" y="359999"/>
            <a:ext cx="3291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Arial"/>
              </a:rPr>
              <a:t>Expone: Cristhian Pacheco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9999" y="762335"/>
            <a:ext cx="1147169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1E3A5F"/>
                </a:solidFill>
                <a:latin typeface="Arial"/>
              </a:rPr>
              <a:t>Decisión: fragmentación por fecha_apertura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8686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Arial"/>
              </a:rPr>
              <a:t>Equipo ACC · PFC-E3 · ISR-701 · Sistema de Soporte Técnico ISP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528816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Arial"/>
              </a:rPr>
              <a:t>6/17</a:t>
            </a:r>
          </a:p>
        </p:txBody>
      </p:sp>
      <p:sp>
        <p:nvSpPr>
          <p:cNvPr id="9" name="Rectangle 8"/>
          <p:cNvSpPr/>
          <p:nvPr/>
        </p:nvSpPr>
        <p:spPr>
          <a:xfrm>
            <a:off x="359999" y="1493855"/>
            <a:ext cx="11471697" cy="2788920"/>
          </a:xfrm>
          <a:prstGeom prst="rect">
            <a:avLst/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0"/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E5E5E5"/>
                </a:solidFill>
                <a:latin typeface="Consolas"/>
              </a:rPr>
              <a:t>CREATE TABLE tickets (</a:t>
            </a:r>
          </a:p>
          <a:p>
            <a:pPr>
              <a:lnSpc>
                <a:spcPct val="115000"/>
              </a:lnSpc>
            </a:pPr>
            <a:r>
              <a:rPr sz="1600" b="0" i="0">
                <a:solidFill>
                  <a:srgbClr val="E5E5E5"/>
                </a:solidFill>
                <a:latin typeface="Consolas"/>
              </a:rPr>
              <a:t>    created_at TIMESTAMPTZ NOT NULL DEFAULT now(),</a:t>
            </a:r>
          </a:p>
          <a:p>
            <a:pPr>
              <a:lnSpc>
                <a:spcPct val="115000"/>
              </a:lnSpc>
            </a:pPr>
            <a:r>
              <a:rPr sz="1600" b="0" i="0">
                <a:solidFill>
                  <a:srgbClr val="E5E5E5"/>
                </a:solidFill>
                <a:latin typeface="Consolas"/>
              </a:rPr>
              <a:t>    id UUID NOT NULL DEFAULT gen_random_uuid(),</a:t>
            </a:r>
          </a:p>
          <a:p>
            <a:pPr>
              <a:lnSpc>
                <a:spcPct val="115000"/>
              </a:lnSpc>
            </a:pPr>
            <a:r>
              <a:rPr sz="1600" b="0" i="0">
                <a:solidFill>
                  <a:srgbClr val="E5E5E5"/>
                </a:solidFill>
                <a:latin typeface="Consolas"/>
              </a:rPr>
              <a:t>    ...</a:t>
            </a:r>
          </a:p>
          <a:p>
            <a:pPr>
              <a:lnSpc>
                <a:spcPct val="115000"/>
              </a:lnSpc>
            </a:pPr>
            <a:r>
              <a:rPr sz="1600" b="0" i="0">
                <a:solidFill>
                  <a:srgbClr val="E5E5E5"/>
                </a:solidFill>
                <a:latin typeface="Consolas"/>
              </a:rPr>
              <a:t>    PRIMARY KEY (created_at, id)</a:t>
            </a:r>
          </a:p>
          <a:p>
            <a:pPr>
              <a:lnSpc>
                <a:spcPct val="115000"/>
              </a:lnSpc>
            </a:pPr>
            <a:r>
              <a:rPr sz="1600" b="1" i="0">
                <a:solidFill>
                  <a:srgbClr val="8A5A00"/>
                </a:solidFill>
                <a:latin typeface="Consolas"/>
              </a:rPr>
              <a:t>) PARTITION BY RANGE (created_at) (</a:t>
            </a:r>
          </a:p>
          <a:p>
            <a:pPr>
              <a:lnSpc>
                <a:spcPct val="115000"/>
              </a:lnSpc>
            </a:pPr>
            <a:r>
              <a:rPr sz="1600" b="1" i="0">
                <a:solidFill>
                  <a:srgbClr val="8A5A00"/>
                </a:solidFill>
                <a:latin typeface="Consolas"/>
              </a:rPr>
              <a:t>    PARTITION tickets_2026_q1</a:t>
            </a:r>
          </a:p>
          <a:p>
            <a:pPr>
              <a:lnSpc>
                <a:spcPct val="115000"/>
              </a:lnSpc>
            </a:pPr>
            <a:r>
              <a:rPr sz="1600" b="0" i="0">
                <a:solidFill>
                  <a:srgbClr val="E5E5E5"/>
                </a:solidFill>
                <a:latin typeface="Consolas"/>
              </a:rPr>
              <a:t>      VALUES FROM (MINVALUE) TO ('2026-04-01'),</a:t>
            </a:r>
          </a:p>
          <a:p>
            <a:pPr>
              <a:lnSpc>
                <a:spcPct val="115000"/>
              </a:lnSpc>
            </a:pPr>
            <a:r>
              <a:rPr sz="1600" b="0" i="0">
                <a:solidFill>
                  <a:srgbClr val="E5E5E5"/>
                </a:solidFill>
                <a:latin typeface="Consolas"/>
              </a:rPr>
              <a:t>    ...</a:t>
            </a:r>
          </a:p>
          <a:p>
            <a:pPr>
              <a:lnSpc>
                <a:spcPct val="115000"/>
              </a:lnSpc>
            </a:pPr>
            <a:r>
              <a:rPr sz="1600" b="0" i="0">
                <a:solidFill>
                  <a:srgbClr val="E5E5E5"/>
                </a:solidFill>
                <a:latin typeface="Consolas"/>
              </a:rPr>
              <a:t>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999" y="4465655"/>
            <a:ext cx="1147169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1A1A1A"/>
                </a:solidFill>
                <a:latin typeface="Arial"/>
              </a:rPr>
              <a:t>Alternativa descartada: PARTITION BY LIST(zona).</a:t>
            </a:r>
          </a:p>
          <a:p>
            <a:r>
              <a:rPr sz="1900" b="0" i="0">
                <a:solidFill>
                  <a:srgbClr val="595959"/>
                </a:solidFill>
                <a:latin typeface="Arial"/>
              </a:rPr>
              <a:t>Criterio: exigencia explícita de la guía de E3 para el equipo ACC [1].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9999" y="359999"/>
            <a:ext cx="3108960" cy="347472"/>
          </a:xfrm>
          <a:prstGeom prst="rect">
            <a:avLst/>
          </a:prstGeom>
          <a:solidFill>
            <a:srgbClr val="0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SECCIÓN 4 · DECISIONES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9856" y="359999"/>
            <a:ext cx="3291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Arial"/>
              </a:rPr>
              <a:t>Expone: Cristhian Pacheco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9999" y="762335"/>
            <a:ext cx="1147169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1E3A5F"/>
                </a:solidFill>
                <a:latin typeface="Arial"/>
              </a:rPr>
              <a:t>Ubicación CAP / PACELC del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8686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Arial"/>
              </a:rPr>
              <a:t>Equipo ACC · PFC-E3 · ISR-701 · Sistema de Soporte Técnico ISP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528816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Arial"/>
              </a:rPr>
              <a:t>7/17</a:t>
            </a:r>
          </a:p>
        </p:txBody>
      </p:sp>
      <p:sp>
        <p:nvSpPr>
          <p:cNvPr id="9" name="Rectangle 8"/>
          <p:cNvSpPr/>
          <p:nvPr/>
        </p:nvSpPr>
        <p:spPr>
          <a:xfrm>
            <a:off x="359999" y="1493855"/>
            <a:ext cx="11471697" cy="4906945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28600" bIns="228600"/>
          <a:lstStyle/>
          <a:p>
            <a:pPr algn="ctr"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E3A5F"/>
                </a:solidFill>
                <a:latin typeface="Arial"/>
              </a:rPr>
              <a:t>●  CockroachDB = sistema CP: prioriza consistencia [2]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Ante partición: rechaza escrituras conflictivas, no arriesga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Consenso Raft: quórum 2 de 3, tolera 1 nodo caído [4]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Verificado en vivo: conflicto real → SQLSTATE 40001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9999" y="359999"/>
            <a:ext cx="3108960" cy="34747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SECCIÓN 5 · 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9856" y="359999"/>
            <a:ext cx="3291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Arial"/>
              </a:rPr>
              <a:t>Expone: Carlos Carpio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9999" y="762335"/>
            <a:ext cx="1147169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1E3A5F"/>
                </a:solidFill>
                <a:latin typeface="Arial"/>
              </a:rPr>
              <a:t>Artefactos verificables en el repositorio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8686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Arial"/>
              </a:rPr>
              <a:t>Equipo ACC · PFC-E3 · ISR-701 · Sistema de Soporte Técnico ISP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528816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Arial"/>
              </a:rPr>
              <a:t>8/17</a:t>
            </a:r>
          </a:p>
        </p:txBody>
      </p:sp>
      <p:sp>
        <p:nvSpPr>
          <p:cNvPr id="9" name="Rectangle 8"/>
          <p:cNvSpPr/>
          <p:nvPr/>
        </p:nvSpPr>
        <p:spPr>
          <a:xfrm>
            <a:off x="359999" y="1493855"/>
            <a:ext cx="11471697" cy="4906945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28600" bIns="228600"/>
          <a:lstStyle/>
          <a:p>
            <a:pPr algn="ctr"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E3A5F"/>
                </a:solidFill>
                <a:latin typeface="Arial"/>
              </a:rPr>
              <a:t>●  db-cluster/: 3 nodos, esquema fragmentado, ADR-0003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services/svc-principal: refactor completo + Testcontainers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spark/: pipeline + baseline + protocolo (600.000 filas)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tests/integration: 2 pruebas contra CockroachDB real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9999" y="359999"/>
            <a:ext cx="3108960" cy="34747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SECCIÓN 5 · 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9856" y="359999"/>
            <a:ext cx="3291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Arial"/>
              </a:rPr>
              <a:t>Expone: Robinson Cando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9999" y="762335"/>
            <a:ext cx="1147169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1E3A5F"/>
                </a:solidFill>
                <a:latin typeface="Arial"/>
              </a:rPr>
              <a:t>Evidencia en vivo: métricas Prometheus reales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8686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Arial"/>
              </a:rPr>
              <a:t>Equipo ACC · PFC-E3 · ISR-701 · Sistema de Soporte Técnico ISP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528816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Arial"/>
              </a:rPr>
              <a:t>9/17</a:t>
            </a:r>
          </a:p>
        </p:txBody>
      </p:sp>
      <p:sp>
        <p:nvSpPr>
          <p:cNvPr id="9" name="Rectangle 8"/>
          <p:cNvSpPr/>
          <p:nvPr/>
        </p:nvSpPr>
        <p:spPr>
          <a:xfrm>
            <a:off x="359999" y="1493855"/>
            <a:ext cx="11471697" cy="4906945"/>
          </a:xfrm>
          <a:prstGeom prst="rect">
            <a:avLst/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0F6B5C"/>
                </a:solidFill>
                <a:latin typeface="Consolas"/>
              </a:rPr>
              <a:t>$ curl localhost:8002/actuator/prometheus</a:t>
            </a:r>
          </a:p>
          <a:p>
            <a:pPr>
              <a:lnSpc>
                <a:spcPct val="120000"/>
              </a:lnSpc>
            </a:pPr>
            <a:r>
              <a:rPr sz="1700" b="0" i="0">
                <a:solidFill>
                  <a:srgbClr val="E5E5E5"/>
                </a:solidFill>
                <a:latin typeface="Consolas"/>
              </a:rPr>
              <a:t/>
            </a:r>
          </a:p>
          <a:p>
            <a:pPr>
              <a:lnSpc>
                <a:spcPct val="120000"/>
              </a:lnSpc>
            </a:pPr>
            <a:r>
              <a:rPr sz="1700" b="0" i="0">
                <a:solidFill>
                  <a:srgbClr val="E5E5E5"/>
                </a:solidFill>
                <a:latin typeface="Consolas"/>
              </a:rPr>
              <a:t># HELP crdb_pool_active_connections Conexiones activas del pool</a:t>
            </a:r>
          </a:p>
          <a:p>
            <a:pPr>
              <a:lnSpc>
                <a:spcPct val="120000"/>
              </a:lnSpc>
            </a:pPr>
            <a:r>
              <a:rPr sz="1700" b="0" i="0">
                <a:solidFill>
                  <a:srgbClr val="E5E5E5"/>
                </a:solidFill>
                <a:latin typeface="Consolas"/>
              </a:rPr>
              <a:t># TYPE crdb_pool_active_connections gauge</a:t>
            </a:r>
          </a:p>
          <a:p>
            <a:pPr>
              <a:lnSpc>
                <a:spcPct val="120000"/>
              </a:lnSpc>
            </a:pPr>
            <a:r>
              <a:rPr sz="1700" b="0" i="0">
                <a:solidFill>
                  <a:srgbClr val="E5E5E5"/>
                </a:solidFill>
                <a:latin typeface="Consolas"/>
              </a:rPr>
              <a:t>crdb_pool_active_connections{application="ticket-service"} 0.0</a:t>
            </a:r>
          </a:p>
          <a:p>
            <a:pPr>
              <a:lnSpc>
                <a:spcPct val="120000"/>
              </a:lnSpc>
            </a:pPr>
            <a:r>
              <a:rPr sz="1700" b="0" i="0">
                <a:solidFill>
                  <a:srgbClr val="E5E5E5"/>
                </a:solidFill>
                <a:latin typeface="Consolas"/>
              </a:rPr>
              <a:t/>
            </a:r>
          </a:p>
          <a:p>
            <a:pPr>
              <a:lnSpc>
                <a:spcPct val="120000"/>
              </a:lnSpc>
            </a:pPr>
            <a:r>
              <a:rPr sz="1700" b="0" i="0">
                <a:solidFill>
                  <a:srgbClr val="E5E5E5"/>
                </a:solidFill>
                <a:latin typeface="Consolas"/>
              </a:rPr>
              <a:t># HELP crdb_transaction_retries_total Reintentos por conflicto</a:t>
            </a:r>
          </a:p>
          <a:p>
            <a:pPr>
              <a:lnSpc>
                <a:spcPct val="120000"/>
              </a:lnSpc>
            </a:pPr>
            <a:r>
              <a:rPr sz="1700" b="0" i="0">
                <a:solidFill>
                  <a:srgbClr val="E5E5E5"/>
                </a:solidFill>
                <a:latin typeface="Consolas"/>
              </a:rPr>
              <a:t># TYPE crdb_transaction_retries_total counter</a:t>
            </a:r>
          </a:p>
          <a:p>
            <a:pPr>
              <a:lnSpc>
                <a:spcPct val="120000"/>
              </a:lnSpc>
            </a:pPr>
            <a:r>
              <a:rPr sz="1700" b="0" i="0">
                <a:solidFill>
                  <a:srgbClr val="E5E5E5"/>
                </a:solidFill>
                <a:latin typeface="Consolas"/>
              </a:rPr>
              <a:t>crdb_transaction_retries_total{application="ticket-service"} 0.0</a:t>
            </a:r>
          </a:p>
          <a:p>
            <a:pPr>
              <a:lnSpc>
                <a:spcPct val="120000"/>
              </a:lnSpc>
            </a:pPr>
            <a:r>
              <a:rPr sz="1700" b="0" i="0">
                <a:solidFill>
                  <a:srgbClr val="E5E5E5"/>
                </a:solidFill>
                <a:latin typeface="Consolas"/>
              </a:rPr>
              <a:t/>
            </a:r>
          </a:p>
          <a:p>
            <a:pPr>
              <a:lnSpc>
                <a:spcPct val="120000"/>
              </a:lnSpc>
            </a:pPr>
            <a:r>
              <a:rPr sz="1700" b="1" i="0">
                <a:solidFill>
                  <a:srgbClr val="0F6B5C"/>
                </a:solidFill>
                <a:latin typeface="Consolas"/>
              </a:rPr>
              <a:t>$ promtool check metrics &lt; salida.prom   →   0 advertencias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9999" y="359999"/>
            <a:ext cx="3108960" cy="347472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SECCIÓN 6 ·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9856" y="359999"/>
            <a:ext cx="3291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Arial"/>
              </a:rPr>
              <a:t>Expone: Robinson Cando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9999" y="762335"/>
            <a:ext cx="1147169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1E3A5F"/>
                </a:solidFill>
                <a:latin typeface="Arial"/>
              </a:rPr>
              <a:t>Verificación de corrección (medida, no supuesta)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8686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Arial"/>
              </a:rPr>
              <a:t>Equipo ACC · PFC-E3 · ISR-701 · Sistema de Soporte Técnico ISP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528816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Arial"/>
              </a:rPr>
              <a:t>10/17</a:t>
            </a:r>
          </a:p>
        </p:txBody>
      </p:sp>
      <p:sp>
        <p:nvSpPr>
          <p:cNvPr id="9" name="Rectangle 8"/>
          <p:cNvSpPr/>
          <p:nvPr/>
        </p:nvSpPr>
        <p:spPr>
          <a:xfrm>
            <a:off x="359999" y="1493855"/>
            <a:ext cx="11471697" cy="4906945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/>
          <a:lstStyle/>
          <a:p>
            <a:pPr algn="ctr">
              <a:spcAft>
                <a:spcPts val="1800"/>
              </a:spcAft>
            </a:pPr>
            <a:r>
              <a:rPr sz="2400" b="1" i="0">
                <a:solidFill>
                  <a:srgbClr val="0F6B5C"/>
                </a:solidFill>
                <a:latin typeface="Arial"/>
              </a:rPr>
              <a:t>✓  </a:t>
            </a:r>
            <a:r>
              <a:rPr sz="2400" b="0" i="0">
                <a:solidFill>
                  <a:srgbClr val="1A1A1A"/>
                </a:solidFill>
                <a:latin typeface="Arial"/>
              </a:rPr>
              <a:t>Aislamiento serializable: conflicto real → SQLSTATE 40001</a:t>
            </a:r>
          </a:p>
          <a:p>
            <a:pPr>
              <a:spcAft>
                <a:spcPts val="1800"/>
              </a:spcAft>
            </a:pPr>
            <a:r>
              <a:rPr sz="2400" b="1" i="0">
                <a:solidFill>
                  <a:srgbClr val="0F6B5C"/>
                </a:solidFill>
                <a:latin typeface="Arial"/>
              </a:rPr>
              <a:t>✓  </a:t>
            </a:r>
            <a:r>
              <a:rPr sz="2400" b="0" i="0">
                <a:solidFill>
                  <a:srgbClr val="1A1A1A"/>
                </a:solidFill>
                <a:latin typeface="Arial"/>
              </a:rPr>
              <a:t>3 métricas Prometheus: 0 advertencias de promtool</a:t>
            </a:r>
          </a:p>
          <a:p>
            <a:pPr>
              <a:spcAft>
                <a:spcPts val="1800"/>
              </a:spcAft>
            </a:pPr>
            <a:r>
              <a:rPr sz="2400" b="1" i="0">
                <a:solidFill>
                  <a:srgbClr val="0F6B5C"/>
                </a:solidFill>
                <a:latin typeface="Arial"/>
              </a:rPr>
              <a:t>✓  </a:t>
            </a:r>
            <a:r>
              <a:rPr sz="2400" b="0" i="0">
                <a:solidFill>
                  <a:srgbClr val="1A1A1A"/>
                </a:solidFill>
                <a:latin typeface="Arial"/>
              </a:rPr>
              <a:t>Testcontainers: 2 de 2 pruebas en verde, CockroachDB real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9999" y="359999"/>
            <a:ext cx="3108960" cy="347472"/>
          </a:xfrm>
          <a:prstGeom prst="rect">
            <a:avLst/>
          </a:prstGeom>
          <a:solidFill>
            <a:srgbClr val="0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SECCIÓN 6 ·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9856" y="359999"/>
            <a:ext cx="3291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Arial"/>
              </a:rPr>
              <a:t>Expone: Cristhian Pacheco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9999" y="762335"/>
            <a:ext cx="1147169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1E3A5F"/>
                </a:solidFill>
                <a:latin typeface="Arial"/>
              </a:rPr>
              <a:t>Pipeline Spark sobre 600.000 incidencias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8686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Arial"/>
              </a:rPr>
              <a:t>Equipo ACC · PFC-E3 · ISR-701 · Sistema de Soporte Técnico ISP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528816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Arial"/>
              </a:rPr>
              <a:t>11/17</a:t>
            </a:r>
          </a:p>
        </p:txBody>
      </p:sp>
      <p:pic>
        <p:nvPicPr>
          <p:cNvPr id="9" name="Picture 8" descr="resultados_pipeline_diaposit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99" y="1493855"/>
            <a:ext cx="11471697" cy="45295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9999" y="6078231"/>
            <a:ext cx="1147169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595959"/>
                </a:solidFill>
                <a:latin typeface="Arial"/>
              </a:rPr>
              <a:t>Ejecución única, determinista (seed=42) · spark_pipeline.ipynb, 5 transformaciones [5]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9999" y="359999"/>
            <a:ext cx="3108960" cy="34747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SECCIÓN 7 · 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9856" y="359999"/>
            <a:ext cx="3291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Arial"/>
              </a:rPr>
              <a:t>Expone: Carlos Carpio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9999" y="762335"/>
            <a:ext cx="1147169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1E3A5F"/>
                </a:solidFill>
                <a:latin typeface="Arial"/>
              </a:rPr>
              <a:t>Demo: crear ticket → Kafka → notificación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8686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Arial"/>
              </a:rPr>
              <a:t>Equipo ACC · PFC-E3 · ISR-701 · Sistema de Soporte Técnico ISP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528816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Arial"/>
              </a:rPr>
              <a:t>12/17</a:t>
            </a:r>
          </a:p>
        </p:txBody>
      </p:sp>
      <p:sp>
        <p:nvSpPr>
          <p:cNvPr id="9" name="Rectangle 8"/>
          <p:cNvSpPr/>
          <p:nvPr/>
        </p:nvSpPr>
        <p:spPr>
          <a:xfrm>
            <a:off x="359999" y="1493855"/>
            <a:ext cx="11471697" cy="4906945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28600" bIns="228600"/>
          <a:lstStyle/>
          <a:p>
            <a:pPr algn="ctr"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E3A5F"/>
                </a:solidFill>
                <a:latin typeface="Arial"/>
              </a:rPr>
              <a:t>●  Objetivo: mostrar la integración asíncrona real entre servicios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Paso 1: POST /tickets con JWT de un cliente autenticado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Paso 2: ticket-service publica ticket.created en Kafka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Paso 3: notification-service consume y genera la notificación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Resultado esperado: notificación visible en menos de 2 segundos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9999" y="359999"/>
            <a:ext cx="3108960" cy="34747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SECCIÓN 7 · 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9856" y="359999"/>
            <a:ext cx="3291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Arial"/>
              </a:rPr>
              <a:t>Expone: Carlos Carpio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9999" y="762335"/>
            <a:ext cx="1147169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1E3A5F"/>
                </a:solidFill>
                <a:latin typeface="Arial"/>
              </a:rPr>
              <a:t>Resultado observado (respaldo de contingencia)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8686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Arial"/>
              </a:rPr>
              <a:t>Equipo ACC · PFC-E3 · ISR-701 · Sistema de Soporte Técnico ISP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528816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Arial"/>
              </a:rPr>
              <a:t>13/17</a:t>
            </a:r>
          </a:p>
        </p:txBody>
      </p:sp>
      <p:pic>
        <p:nvPicPr>
          <p:cNvPr id="9" name="Picture 8" descr="captura_demo_ticket_notific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313" y="1493855"/>
            <a:ext cx="9703068" cy="45869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9999" y="6135624"/>
            <a:ext cx="1147169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595959"/>
                </a:solidFill>
                <a:latin typeface="Arial"/>
              </a:rPr>
              <a:t>Ejecutado en vivo el 26/07/2026 · ticket 2129d338-... · valida el objetivo del Paso 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9999" y="359999"/>
            <a:ext cx="3108960" cy="347472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SECCIÓN 8 ·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9856" y="359999"/>
            <a:ext cx="3291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Arial"/>
              </a:rPr>
              <a:t>Expone: Robinson Cando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9999" y="762335"/>
            <a:ext cx="1147169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1E3A5F"/>
                </a:solidFill>
                <a:latin typeface="Arial"/>
              </a:rPr>
              <a:t>Riesgos, deuda técnica y plan hacia E4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8686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Arial"/>
              </a:rPr>
              <a:t>Equipo ACC · PFC-E3 · ISR-701 · Sistema de Soporte Técnico ISP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528816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Arial"/>
              </a:rPr>
              <a:t>14/17</a:t>
            </a:r>
          </a:p>
        </p:txBody>
      </p:sp>
      <p:sp>
        <p:nvSpPr>
          <p:cNvPr id="9" name="Rectangle 8"/>
          <p:cNvSpPr/>
          <p:nvPr/>
        </p:nvSpPr>
        <p:spPr>
          <a:xfrm>
            <a:off x="359999" y="1493855"/>
            <a:ext cx="11471697" cy="4906945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28600" bIns="228600"/>
          <a:lstStyle/>
          <a:p>
            <a:pPr algn="ctr"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E3A5F"/>
                </a:solidFill>
                <a:latin typeface="Arial"/>
              </a:rPr>
              <a:t>●  Riesgo: zone cruza 4 particiones — mitigado con índice secundario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Deuda técnica: sin API Gateway único — planificado para E4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Pendiente: video de tolerancia a fallos + protocolo estadístico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E4 reutiliza sin modificar: clúster, 3 métricas, pipeline Spark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9999" y="359999"/>
            <a:ext cx="3108960" cy="347472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SECCIÓN 8 ·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9856" y="359999"/>
            <a:ext cx="3291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Arial"/>
              </a:rPr>
              <a:t>Expone: Jeremy Álvarez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9999" y="762335"/>
            <a:ext cx="1147169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1E3A5F"/>
                </a:solidFill>
                <a:latin typeface="Arial"/>
              </a:rPr>
              <a:t>Conclusiones del equipo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8686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Arial"/>
              </a:rPr>
              <a:t>Equipo ACC · PFC-E3 · ISR-701 · Sistema de Soporte Técnico ISP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528816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Arial"/>
              </a:rPr>
              <a:t>15/17</a:t>
            </a:r>
          </a:p>
        </p:txBody>
      </p:sp>
      <p:sp>
        <p:nvSpPr>
          <p:cNvPr id="9" name="Rectangle 8"/>
          <p:cNvSpPr/>
          <p:nvPr/>
        </p:nvSpPr>
        <p:spPr>
          <a:xfrm>
            <a:off x="359999" y="1493855"/>
            <a:ext cx="11471697" cy="4906945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28600" bIns="228600"/>
          <a:lstStyle/>
          <a:p>
            <a:pPr algn="ctr"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E3A5F"/>
                </a:solidFill>
                <a:latin typeface="Arial"/>
              </a:rPr>
              <a:t>●  Fragmentación exigida ≠ patrón de acceso real: documentar el costo, no forzarlo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Verificación empírica (Testcontainers, promtool) halló un problema real antes que un usuario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200" b="0" i="0">
                <a:solidFill>
                  <a:srgbClr val="1A1A1A"/>
                </a:solidFill>
                <a:latin typeface="Arial"/>
              </a:rPr>
              <a:t>●  Pipeline con objetivo propio del dominio &gt; transformaciones genéricas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9999" y="359999"/>
            <a:ext cx="3108960" cy="347472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SECCIÓN 8 ·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9999" y="762335"/>
            <a:ext cx="1147169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1E3A5F"/>
                </a:solidFill>
                <a:latin typeface="Arial"/>
              </a:rPr>
              <a:t>Declaración de uso de IA generativa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28816"/>
            <a:ext cx="8686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Arial"/>
              </a:rPr>
              <a:t>Equipo ACC · PFC-E3 · ISR-701 · Sistema de Soporte Técnico ISP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528816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Arial"/>
              </a:rPr>
              <a:t>16/17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359999" y="1493855"/>
            <a:ext cx="11471697" cy="4906945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28600" bIns="228600"/>
          <a:lstStyle/>
          <a:p>
            <a:pPr algn="ctr">
              <a:lnSpc>
                <a:spcPct val="120000"/>
              </a:lnSpc>
              <a:spcAft>
                <a:spcPts val="1600"/>
              </a:spcAft>
            </a:pPr>
            <a:r>
              <a:rPr sz="2000" b="0" i="0">
                <a:solidFill>
                  <a:srgbClr val="1E3A5F"/>
                </a:solidFill>
                <a:latin typeface="Arial"/>
              </a:rPr>
              <a:t>●  Herramienta: Claude Code (Anthropic), asistente conversacional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●  Propósito: scaffolding, implementación guiada, depuración y pruebas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●  Alcance: todas las diapositivas — contenido revisado y verificado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●  Decisiones de arquitectura y verificación funcional: siempre del equipo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9999" y="359999"/>
            <a:ext cx="3108960" cy="347472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SECCIÓN 8 ·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9999" y="762335"/>
            <a:ext cx="1147169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200" b="1" i="0">
                <a:solidFill>
                  <a:srgbClr val="1E3A5F"/>
                </a:solidFill>
                <a:latin typeface="Arial"/>
              </a:rPr>
              <a:t>Referencias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28816"/>
            <a:ext cx="8686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Arial"/>
              </a:rPr>
              <a:t>Equipo ACC · PFC-E3 · ISR-701 · Sistema de Soporte Técnico ISP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528816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Arial"/>
              </a:rPr>
              <a:t>17/17</a:t>
            </a:r>
          </a:p>
        </p:txBody>
      </p:sp>
      <p:sp>
        <p:nvSpPr>
          <p:cNvPr id="8" name="Rectangle 7"/>
          <p:cNvSpPr/>
          <p:nvPr/>
        </p:nvSpPr>
        <p:spPr>
          <a:xfrm>
            <a:off x="359999" y="1493855"/>
            <a:ext cx="11471697" cy="4906945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411480"/>
          <a:lstStyle/>
          <a:p>
            <a:pPr algn="ctr">
              <a:spcAft>
                <a:spcPts val="1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[1] M. T. Özsu and P. Valduriez, Principles of Distributed Database Systems, 4th ed. Springer, 2020.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[2] E. Brewer, "CAP twelve years later," IEEE Computer, vol. 45, no. 2, pp. 23–29, 2012.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[3] D. J. Abadi, "Consistency tradeoffs...," IEEE Computer, vol. 45, no. 2, pp. 37–42, 2012.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[4] D. Ongaro and J. Ousterhout, "In search of an understandable consensus algorithm," USENIX ATC, 2014.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[5] M. Zaharia et al., "Resilient Distributed Datasets," NSDI, 2012.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